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戦略コンサルティング統合レポート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サンプル企業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IT業界 | 2025年12月10日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66CC"/>
                </a:solidFill>
              </a:defRPr>
            </a:pPr>
            <a:r>
              <a:t>エグゼクティブサマリー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66CC"/>
                </a:solidFill>
              </a:defRPr>
            </a:pPr>
            <a:r>
              <a:t>📊 市場分析</a:t>
            </a:r>
          </a:p>
          <a:p>
            <a:pPr lvl="1">
              <a:defRPr sz="1600">
                <a:solidFill>
                  <a:srgbClr val="212121"/>
                </a:solidFill>
              </a:defRPr>
            </a:pPr>
            <a:r>
              <a:t>  • 市場魅力度: 非常に高い</a:t>
            </a:r>
          </a:p>
          <a:p>
            <a:pPr lvl="1">
              <a:defRPr sz="1600">
                <a:solidFill>
                  <a:srgbClr val="212121"/>
                </a:solidFill>
              </a:defRPr>
            </a:pPr>
            <a:r>
              <a:t>  • 市場規模: 500,000,000,000円</a:t>
            </a:r>
          </a:p>
          <a:p>
            <a:pPr lvl="1">
              <a:defRPr sz="1600">
                <a:solidFill>
                  <a:srgbClr val="212121"/>
                </a:solidFill>
              </a:defRPr>
            </a:pPr>
            <a:r>
              <a:t>  • 成長率: 12.5%</a:t>
            </a:r>
          </a:p>
          <a:p/>
          <a:p>
            <a:pPr>
              <a:defRPr sz="2000" b="1">
                <a:solidFill>
                  <a:srgbClr val="4CAF50"/>
                </a:solidFill>
              </a:defRPr>
            </a:pPr>
            <a:r>
              <a:t>💰 財務分析</a:t>
            </a:r>
          </a:p>
          <a:p>
            <a:pPr lvl="1">
              <a:defRPr sz="1600">
                <a:solidFill>
                  <a:srgbClr val="212121"/>
                </a:solidFill>
              </a:defRPr>
            </a:pPr>
            <a:r>
              <a:t>  • 総合評価: 財務状況は非常に良好です</a:t>
            </a:r>
          </a:p>
          <a:p>
            <a:pPr lvl="1">
              <a:defRPr sz="1600">
                <a:solidFill>
                  <a:srgbClr val="212121"/>
                </a:solidFill>
              </a:defRPr>
            </a:pPr>
            <a:r>
              <a:t>  • 営業利益率: 16.7%</a:t>
            </a:r>
          </a:p>
          <a:p/>
          <a:p>
            <a:pPr>
              <a:defRPr sz="2000" b="1">
                <a:solidFill>
                  <a:srgbClr val="FF9900"/>
                </a:solidFill>
              </a:defRPr>
            </a:pPr>
            <a:r>
              <a:t>🎯 戦略分析</a:t>
            </a:r>
          </a:p>
          <a:p>
            <a:pPr lvl="1">
              <a:defRPr sz="1600">
                <a:solidFill>
                  <a:srgbClr val="212121"/>
                </a:solidFill>
              </a:defRPr>
            </a:pPr>
            <a:r>
              <a:t>  • 複数の戦略フレームワークを用いた包括的分析を実施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66CC"/>
                </a:solidFill>
              </a:defRPr>
            </a:pPr>
            <a:r>
              <a:t>市場分析結果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i="1">
                <a:solidFill>
                  <a:srgbClr val="212121"/>
                </a:solidFill>
              </a:defRPr>
            </a:pPr>
            <a:r>
              <a:t>詳細な分析結果はマークダウンレポートをご参照ください。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4CAF50"/>
                </a:solidFill>
              </a:defRPr>
            </a:pPr>
            <a:r>
              <a:t>財務分析結果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i="1">
                <a:solidFill>
                  <a:srgbClr val="212121"/>
                </a:solidFill>
              </a:defRPr>
            </a:pPr>
            <a:r>
              <a:t>詳細な分析結果はマークダウンレポートをご参照ください。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FF9900"/>
                </a:solidFill>
              </a:defRPr>
            </a:pPr>
            <a:r>
              <a:t>戦略分析結果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i="1">
                <a:solidFill>
                  <a:srgbClr val="212121"/>
                </a:solidFill>
              </a:defRPr>
            </a:pPr>
            <a:r>
              <a:t>詳細な分析結果はマークダウンレポートをご参照ください。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66CC"/>
                </a:solidFill>
              </a:defRPr>
            </a:pPr>
            <a:r>
              <a:t>統合的な推奨事項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1. [市場] 高成長市場であり、積極的な市場投資と拡大戦略を推奨します</a:t>
            </a:r>
          </a:p>
          <a:p>
            <a:pPr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2. [市場] 優先セグメント（中小企業, スタートアップ）に注力したマーケティング戦略を展開してください</a:t>
            </a:r>
          </a:p>
          <a:p>
            <a:pPr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3. [市場] 重要トレンド（DX推進の加速, クラウドファーストの浸透）への対応を優先してください</a:t>
            </a:r>
          </a:p>
          <a:p>
            <a:pPr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4. [財務] 財務状況は良好です。現在の戦略を継続しつつ、さらなる成長機会を探索してください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66CC"/>
                </a:solidFill>
              </a:defRPr>
            </a:pPr>
            <a:r>
              <a:t>アクションプラン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 b="1">
                <a:solidFill>
                  <a:srgbClr val="0066CC"/>
                </a:solidFill>
              </a:defRPr>
            </a:pPr>
            <a:r>
              <a:t>短期（1-3ヶ月）</a:t>
            </a:r>
          </a:p>
          <a:p>
            <a:pPr lvl="1">
              <a:defRPr sz="1400">
                <a:solidFill>
                  <a:srgbClr val="212121"/>
                </a:solidFill>
              </a:defRPr>
            </a:pPr>
            <a:r>
              <a:t>  • データ収集と詳細分析の実施</a:t>
            </a:r>
          </a:p>
          <a:p>
            <a:pPr lvl="1">
              <a:defRPr sz="1400">
                <a:solidFill>
                  <a:srgbClr val="212121"/>
                </a:solidFill>
              </a:defRPr>
            </a:pPr>
            <a:r>
              <a:t>  • 優先度の高い施策の計画立案</a:t>
            </a:r>
          </a:p>
          <a:p>
            <a:pPr lvl="1">
              <a:defRPr sz="1400">
                <a:solidFill>
                  <a:srgbClr val="212121"/>
                </a:solidFill>
              </a:defRPr>
            </a:pPr>
            <a:r>
              <a:t>  • ステークホルダーとの合意形成</a:t>
            </a:r>
          </a:p>
          <a:p/>
          <a:p>
            <a:pPr>
              <a:spcAft>
                <a:spcPts val="600"/>
              </a:spcAft>
              <a:defRPr sz="1800" b="1">
                <a:solidFill>
                  <a:srgbClr val="0066CC"/>
                </a:solidFill>
              </a:defRPr>
            </a:pPr>
            <a:r>
              <a:t>中期（3-6ヶ月）</a:t>
            </a:r>
          </a:p>
          <a:p>
            <a:pPr lvl="1">
              <a:defRPr sz="1400">
                <a:solidFill>
                  <a:srgbClr val="212121"/>
                </a:solidFill>
              </a:defRPr>
            </a:pPr>
            <a:r>
              <a:t>  • 優先施策の実行開始</a:t>
            </a:r>
          </a:p>
          <a:p>
            <a:pPr lvl="1">
              <a:defRPr sz="1400">
                <a:solidFill>
                  <a:srgbClr val="212121"/>
                </a:solidFill>
              </a:defRPr>
            </a:pPr>
            <a:r>
              <a:t>  • KPIの設定とモニタリング体制の構築</a:t>
            </a:r>
          </a:p>
          <a:p>
            <a:pPr lvl="1">
              <a:defRPr sz="1400">
                <a:solidFill>
                  <a:srgbClr val="212121"/>
                </a:solidFill>
              </a:defRPr>
            </a:pPr>
            <a:r>
              <a:t>  • 中間評価と軌道修正</a:t>
            </a:r>
          </a:p>
          <a:p/>
          <a:p>
            <a:pPr>
              <a:spcAft>
                <a:spcPts val="600"/>
              </a:spcAft>
              <a:defRPr sz="1800" b="1">
                <a:solidFill>
                  <a:srgbClr val="0066CC"/>
                </a:solidFill>
              </a:defRPr>
            </a:pPr>
            <a:r>
              <a:t>長期（6-12ヶ月）</a:t>
            </a:r>
          </a:p>
          <a:p>
            <a:pPr lvl="1">
              <a:defRPr sz="1400">
                <a:solidFill>
                  <a:srgbClr val="212121"/>
                </a:solidFill>
              </a:defRPr>
            </a:pPr>
            <a:r>
              <a:t>  • 施策の効果測定と評価</a:t>
            </a:r>
          </a:p>
          <a:p>
            <a:pPr lvl="1">
              <a:defRPr sz="1400">
                <a:solidFill>
                  <a:srgbClr val="212121"/>
                </a:solidFill>
              </a:defRPr>
            </a:pPr>
            <a:r>
              <a:t>  • 次フェーズの戦略立案</a:t>
            </a:r>
          </a:p>
          <a:p>
            <a:pPr lvl="1">
              <a:defRPr sz="1400">
                <a:solidFill>
                  <a:srgbClr val="212121"/>
                </a:solidFill>
              </a:defRPr>
            </a:pPr>
            <a:r>
              <a:t>  • 継続的改善サイクルの確立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